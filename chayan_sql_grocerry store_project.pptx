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76" r:id="rId5"/>
    <p:sldId id="261" r:id="rId6"/>
    <p:sldId id="260" r:id="rId7"/>
    <p:sldId id="263" r:id="rId8"/>
    <p:sldId id="265" r:id="rId9"/>
    <p:sldId id="262" r:id="rId10"/>
    <p:sldId id="277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59" r:id="rId22"/>
  </p:sldIdLst>
  <p:sldSz cx="12192000" cy="6858000"/>
  <p:notesSz cx="6858000" cy="9144000"/>
  <p:embeddedFontLst>
    <p:embeddedFont>
      <p:font typeface="Libre Baskerville" panose="020B0604020202020204" charset="0"/>
      <p:regular r:id="rId24"/>
      <p:bold r:id="rId25"/>
      <p:italic r:id="rId26"/>
    </p:embeddedFont>
    <p:embeddedFont>
      <p:font typeface="Lato Black" panose="020B0604020202020204" charset="0"/>
      <p:bold r:id="rId27"/>
      <p:boldItalic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74" autoAdjust="0"/>
  </p:normalViewPr>
  <p:slideViewPr>
    <p:cSldViewPr snapToGrid="0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hayanchauhan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hayan5532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Grocery Store Management </a:t>
            </a:r>
            <a:endParaRPr sz="3200" b="1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064940" y="5957804"/>
            <a:ext cx="3584867" cy="7514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ctr">
              <a:spcBef>
                <a:spcPts val="100"/>
              </a:spcBef>
            </a:pPr>
            <a:r>
              <a:rPr lang="en-US" b="1" dirty="0" smtClean="0">
                <a:latin typeface="Arial MT"/>
                <a:cs typeface="Arial MT"/>
              </a:rPr>
              <a:t>PRESENTED BY :</a:t>
            </a:r>
          </a:p>
          <a:p>
            <a:pPr marL="12700" marR="5080" algn="ctr">
              <a:spcBef>
                <a:spcPts val="100"/>
              </a:spcBef>
            </a:pPr>
            <a:r>
              <a:rPr lang="en-US" dirty="0" smtClean="0">
                <a:latin typeface="Arial MT"/>
                <a:cs typeface="Arial MT"/>
              </a:rPr>
              <a:t> CHAUHAN CHAYAN </a:t>
            </a:r>
            <a:br>
              <a:rPr lang="en-US" dirty="0" smtClean="0">
                <a:latin typeface="Arial MT"/>
                <a:cs typeface="Arial MT"/>
              </a:rPr>
            </a:br>
            <a:r>
              <a:rPr lang="en-US" dirty="0" smtClean="0">
                <a:latin typeface="Arial MT"/>
                <a:cs typeface="Arial MT"/>
              </a:rPr>
              <a:t>BATCH: 450</a:t>
            </a:r>
            <a:endParaRPr lang="en-IN" dirty="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7656" y="416554"/>
            <a:ext cx="6099463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400" b="1" i="0" u="none" strike="noStrike" cap="none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 Black"/>
              </a:rPr>
              <a:t>About</a:t>
            </a:r>
            <a:r>
              <a:rPr lang="en-IN" sz="3200" b="1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IN" sz="3200" b="1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IN" sz="44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 Black"/>
              </a:rPr>
              <a:t>me</a:t>
            </a:r>
            <a:endParaRPr sz="4400" b="1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Google Shape;54;p2"/>
          <p:cNvSpPr txBox="1"/>
          <p:nvPr/>
        </p:nvSpPr>
        <p:spPr>
          <a:xfrm>
            <a:off x="773331" y="1312379"/>
            <a:ext cx="9973437" cy="3718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00685" indent="-342900">
              <a:buSzPts val="2400"/>
              <a:buFont typeface="Wingdings" panose="05000000000000000000" pitchFamily="2" charset="2"/>
              <a:buChar char="Ø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My name is </a:t>
            </a: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Chauhan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</a:t>
            </a:r>
            <a:r>
              <a:rPr lang="en-IN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hayan</a:t>
            </a: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.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 have completed my </a:t>
            </a:r>
            <a:r>
              <a:rPr lang="en-IN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B’Tech</a:t>
            </a: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in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Information Technology </a:t>
            </a: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from Silver oak university, </a:t>
            </a:r>
            <a:r>
              <a:rPr lang="en-IN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Ahmedabda</a:t>
            </a: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(2021-2025)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685" lvl="0" indent="-342900" algn="l" rtl="0">
              <a:spcBef>
                <a:spcPts val="1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355600" lvl="0" indent="-342900">
              <a:buSzPts val="2400"/>
              <a:buFont typeface="Wingdings" panose="05000000000000000000" pitchFamily="2" charset="2"/>
              <a:buChar char="Ø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 want to learn Data </a:t>
            </a: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Science because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enjoy finding useful insights from data to help make better decisions. I also like working with numbers and tools to uncover patterns that solve real-world problems.</a:t>
            </a:r>
          </a:p>
          <a:p>
            <a:pPr marL="355600" lvl="0" indent="-342900">
              <a:buSzPts val="2400"/>
              <a:buFont typeface="Wingdings" panose="05000000000000000000" pitchFamily="2" charset="2"/>
              <a:buChar char="Ø"/>
            </a:pP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355600" lvl="0" indent="-342900">
              <a:buSzPts val="2400"/>
              <a:buFont typeface="Wingdings" panose="05000000000000000000" pitchFamily="2" charset="2"/>
              <a:buChar char="Ø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LinkedIn profile </a:t>
            </a: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: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IN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  <a:hlinkClick r:id="rId3"/>
              </a:rPr>
              <a:t>linkedin</a:t>
            </a:r>
            <a:endParaRPr lang="en-IN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355600" lvl="0" indent="-342900">
              <a:buSzPts val="2400"/>
              <a:buFont typeface="Wingdings" panose="05000000000000000000" pitchFamily="2" charset="2"/>
              <a:buChar char="Ø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355600" lvl="0" indent="-342900">
              <a:buSzPts val="2400"/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GitHub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profile: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  <a:hlinkClick r:id="rId4"/>
              </a:rPr>
              <a:t>GitHub</a:t>
            </a:r>
            <a:endParaRPr lang="en-IN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422030" y="18255"/>
            <a:ext cx="10302041" cy="138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</a:pPr>
            <a:r>
              <a:rPr lang="en-IN" b="1" dirty="0" smtClean="0">
                <a:solidFill>
                  <a:srgbClr val="FF0000"/>
                </a:solidFill>
              </a:rPr>
              <a:t>Agenda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49711" y="1484342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  <a:buSzPct val="133333"/>
              <a:buFont typeface="Wingdings" panose="05000000000000000000" pitchFamily="2" charset="2"/>
              <a:buChar char="Ø"/>
              <a:tabLst>
                <a:tab pos="335280" algn="l"/>
              </a:tabLst>
            </a:pPr>
            <a:r>
              <a:rPr lang="en-US" sz="2400" dirty="0">
                <a:solidFill>
                  <a:srgbClr val="1D1D1B"/>
                </a:solidFill>
              </a:rPr>
              <a:t>Problem</a:t>
            </a:r>
            <a:r>
              <a:rPr lang="en-US" sz="2400" spc="-40" dirty="0">
                <a:solidFill>
                  <a:srgbClr val="1D1D1B"/>
                </a:solidFill>
              </a:rPr>
              <a:t> </a:t>
            </a:r>
            <a:r>
              <a:rPr lang="en-US" sz="2400" spc="-10" dirty="0" smtClean="0">
                <a:solidFill>
                  <a:srgbClr val="1D1D1B"/>
                </a:solidFill>
              </a:rPr>
              <a:t>Statement</a:t>
            </a:r>
          </a:p>
          <a:p>
            <a:pPr marL="355600">
              <a:lnSpc>
                <a:spcPct val="100000"/>
              </a:lnSpc>
              <a:spcBef>
                <a:spcPts val="585"/>
              </a:spcBef>
              <a:buSzPct val="133333"/>
              <a:buFont typeface="Wingdings" panose="05000000000000000000" pitchFamily="2" charset="2"/>
              <a:buChar char="Ø"/>
              <a:tabLst>
                <a:tab pos="335280" algn="l"/>
              </a:tabLst>
            </a:pPr>
            <a:r>
              <a:rPr lang="en-US" sz="2400" dirty="0">
                <a:solidFill>
                  <a:schemeClr val="tx1"/>
                </a:solidFill>
              </a:rPr>
              <a:t>Business </a:t>
            </a:r>
            <a:r>
              <a:rPr lang="en-US" sz="2400" dirty="0" smtClean="0">
                <a:solidFill>
                  <a:schemeClr val="tx1"/>
                </a:solidFill>
              </a:rPr>
              <a:t>Problem</a:t>
            </a:r>
          </a:p>
          <a:p>
            <a:pPr marL="355600">
              <a:lnSpc>
                <a:spcPct val="100000"/>
              </a:lnSpc>
              <a:spcBef>
                <a:spcPts val="585"/>
              </a:spcBef>
              <a:buSzPct val="133333"/>
              <a:buFont typeface="Wingdings" panose="05000000000000000000" pitchFamily="2" charset="2"/>
              <a:buChar char="Ø"/>
              <a:tabLst>
                <a:tab pos="335280" algn="l"/>
              </a:tabLst>
            </a:pPr>
            <a:r>
              <a:rPr lang="en-US" sz="2400" dirty="0">
                <a:solidFill>
                  <a:schemeClr val="tx1"/>
                </a:solidFill>
              </a:rPr>
              <a:t>Problem </a:t>
            </a:r>
            <a:r>
              <a:rPr lang="en-US" sz="2400" dirty="0" smtClean="0">
                <a:solidFill>
                  <a:schemeClr val="tx1"/>
                </a:solidFill>
              </a:rPr>
              <a:t>Statement</a:t>
            </a:r>
          </a:p>
          <a:p>
            <a:pPr marL="355600">
              <a:lnSpc>
                <a:spcPct val="100000"/>
              </a:lnSpc>
              <a:spcBef>
                <a:spcPts val="585"/>
              </a:spcBef>
              <a:buSzPct val="133333"/>
              <a:buFont typeface="Wingdings" panose="05000000000000000000" pitchFamily="2" charset="2"/>
              <a:buChar char="Ø"/>
              <a:tabLst>
                <a:tab pos="335280" algn="l"/>
              </a:tabLst>
            </a:pPr>
            <a:r>
              <a:rPr lang="en-US" sz="2400" dirty="0">
                <a:solidFill>
                  <a:srgbClr val="1D1D1B"/>
                </a:solidFill>
              </a:rPr>
              <a:t>Objective</a:t>
            </a:r>
            <a:r>
              <a:rPr lang="en-US" sz="2400" spc="-55" dirty="0">
                <a:solidFill>
                  <a:srgbClr val="1D1D1B"/>
                </a:solidFill>
              </a:rPr>
              <a:t> </a:t>
            </a:r>
            <a:r>
              <a:rPr lang="en-US" sz="2400" dirty="0">
                <a:solidFill>
                  <a:srgbClr val="1D1D1B"/>
                </a:solidFill>
              </a:rPr>
              <a:t>of</a:t>
            </a:r>
            <a:r>
              <a:rPr lang="en-US" sz="2400" spc="-15" dirty="0">
                <a:solidFill>
                  <a:srgbClr val="1D1D1B"/>
                </a:solidFill>
              </a:rPr>
              <a:t> </a:t>
            </a:r>
            <a:r>
              <a:rPr lang="en-US" sz="2400" dirty="0">
                <a:solidFill>
                  <a:srgbClr val="1D1D1B"/>
                </a:solidFill>
              </a:rPr>
              <a:t>the</a:t>
            </a:r>
            <a:r>
              <a:rPr lang="en-US" sz="2400" spc="-45" dirty="0">
                <a:solidFill>
                  <a:srgbClr val="1D1D1B"/>
                </a:solidFill>
              </a:rPr>
              <a:t> </a:t>
            </a:r>
            <a:r>
              <a:rPr lang="en-US" sz="2400" spc="-10" dirty="0" smtClean="0">
                <a:solidFill>
                  <a:srgbClr val="1D1D1B"/>
                </a:solidFill>
              </a:rPr>
              <a:t>Project</a:t>
            </a:r>
            <a:endParaRPr lang="en-US" sz="2400" dirty="0">
              <a:solidFill>
                <a:schemeClr val="tx1"/>
              </a:solidFill>
            </a:endParaRPr>
          </a:p>
          <a:p>
            <a:pPr marL="355600">
              <a:lnSpc>
                <a:spcPct val="100000"/>
              </a:lnSpc>
              <a:spcBef>
                <a:spcPts val="580"/>
              </a:spcBef>
              <a:buSzPct val="133333"/>
              <a:buFont typeface="Wingdings" panose="05000000000000000000" pitchFamily="2" charset="2"/>
              <a:buChar char="Ø"/>
              <a:tabLst>
                <a:tab pos="335280" algn="l"/>
              </a:tabLst>
            </a:pPr>
            <a:r>
              <a:rPr lang="en-US" sz="2400" dirty="0">
                <a:solidFill>
                  <a:srgbClr val="1D1D1B"/>
                </a:solidFill>
              </a:rPr>
              <a:t>About</a:t>
            </a:r>
            <a:r>
              <a:rPr lang="en-US" sz="2400" spc="-25" dirty="0">
                <a:solidFill>
                  <a:srgbClr val="1D1D1B"/>
                </a:solidFill>
              </a:rPr>
              <a:t> </a:t>
            </a:r>
            <a:r>
              <a:rPr lang="en-US" sz="2400" spc="-10" dirty="0">
                <a:solidFill>
                  <a:srgbClr val="1D1D1B"/>
                </a:solidFill>
              </a:rPr>
              <a:t>Tables</a:t>
            </a:r>
            <a:endParaRPr lang="en-US" sz="2400" dirty="0"/>
          </a:p>
          <a:p>
            <a:pPr marL="355600">
              <a:lnSpc>
                <a:spcPct val="100000"/>
              </a:lnSpc>
              <a:spcBef>
                <a:spcPts val="590"/>
              </a:spcBef>
              <a:buSzPct val="133333"/>
              <a:buFont typeface="Wingdings" panose="05000000000000000000" pitchFamily="2" charset="2"/>
              <a:buChar char="Ø"/>
              <a:tabLst>
                <a:tab pos="335280" algn="l"/>
              </a:tabLst>
            </a:pPr>
            <a:r>
              <a:rPr lang="en-US" sz="2400" dirty="0">
                <a:solidFill>
                  <a:srgbClr val="1D1D1B"/>
                </a:solidFill>
              </a:rPr>
              <a:t>ER</a:t>
            </a:r>
            <a:r>
              <a:rPr lang="en-US" sz="2400" spc="-5" dirty="0">
                <a:solidFill>
                  <a:srgbClr val="1D1D1B"/>
                </a:solidFill>
              </a:rPr>
              <a:t> </a:t>
            </a:r>
            <a:r>
              <a:rPr lang="en-US" sz="2400" dirty="0">
                <a:solidFill>
                  <a:srgbClr val="1D1D1B"/>
                </a:solidFill>
              </a:rPr>
              <a:t>Diagram</a:t>
            </a:r>
            <a:r>
              <a:rPr lang="en-US" sz="2400" spc="-20" dirty="0">
                <a:solidFill>
                  <a:srgbClr val="1D1D1B"/>
                </a:solidFill>
              </a:rPr>
              <a:t> </a:t>
            </a:r>
            <a:r>
              <a:rPr lang="en-US" sz="2400" dirty="0">
                <a:solidFill>
                  <a:srgbClr val="1D1D1B"/>
                </a:solidFill>
              </a:rPr>
              <a:t>and</a:t>
            </a:r>
            <a:r>
              <a:rPr lang="en-US" sz="2400" spc="-5" dirty="0">
                <a:solidFill>
                  <a:srgbClr val="1D1D1B"/>
                </a:solidFill>
              </a:rPr>
              <a:t> </a:t>
            </a:r>
            <a:r>
              <a:rPr lang="en-US" sz="2400" dirty="0">
                <a:solidFill>
                  <a:srgbClr val="1D1D1B"/>
                </a:solidFill>
              </a:rPr>
              <a:t>schema</a:t>
            </a:r>
            <a:r>
              <a:rPr lang="en-US" sz="2400" spc="-45" dirty="0">
                <a:solidFill>
                  <a:srgbClr val="1D1D1B"/>
                </a:solidFill>
              </a:rPr>
              <a:t> </a:t>
            </a:r>
            <a:r>
              <a:rPr lang="en-US" sz="2400" spc="-10" dirty="0">
                <a:solidFill>
                  <a:srgbClr val="1D1D1B"/>
                </a:solidFill>
              </a:rPr>
              <a:t>explanation</a:t>
            </a:r>
            <a:endParaRPr lang="en-US" sz="2400" dirty="0"/>
          </a:p>
          <a:p>
            <a:pPr marL="355600">
              <a:lnSpc>
                <a:spcPct val="100000"/>
              </a:lnSpc>
              <a:spcBef>
                <a:spcPts val="585"/>
              </a:spcBef>
              <a:buSzPct val="133333"/>
              <a:buFont typeface="Wingdings" panose="05000000000000000000" pitchFamily="2" charset="2"/>
              <a:buChar char="Ø"/>
              <a:tabLst>
                <a:tab pos="335280" algn="l"/>
              </a:tabLst>
            </a:pPr>
            <a:r>
              <a:rPr lang="en-US" sz="2400" dirty="0">
                <a:solidFill>
                  <a:srgbClr val="1D1D1B"/>
                </a:solidFill>
              </a:rPr>
              <a:t>Key</a:t>
            </a:r>
            <a:r>
              <a:rPr lang="en-US" sz="2400" spc="-25" dirty="0">
                <a:solidFill>
                  <a:srgbClr val="1D1D1B"/>
                </a:solidFill>
              </a:rPr>
              <a:t> </a:t>
            </a:r>
            <a:r>
              <a:rPr lang="en-US" sz="2400" dirty="0">
                <a:solidFill>
                  <a:srgbClr val="1D1D1B"/>
                </a:solidFill>
              </a:rPr>
              <a:t>analysis</a:t>
            </a:r>
            <a:r>
              <a:rPr lang="en-US" sz="2400" spc="-35" dirty="0">
                <a:solidFill>
                  <a:srgbClr val="1D1D1B"/>
                </a:solidFill>
              </a:rPr>
              <a:t> </a:t>
            </a:r>
            <a:r>
              <a:rPr lang="en-US" sz="2400" dirty="0">
                <a:solidFill>
                  <a:srgbClr val="1D1D1B"/>
                </a:solidFill>
              </a:rPr>
              <a:t>questions</a:t>
            </a:r>
            <a:r>
              <a:rPr lang="en-US" sz="2400" spc="-40" dirty="0">
                <a:solidFill>
                  <a:srgbClr val="1D1D1B"/>
                </a:solidFill>
              </a:rPr>
              <a:t> </a:t>
            </a:r>
            <a:r>
              <a:rPr lang="en-US" sz="2400" dirty="0">
                <a:solidFill>
                  <a:srgbClr val="1D1D1B"/>
                </a:solidFill>
              </a:rPr>
              <a:t>(use</a:t>
            </a:r>
            <a:r>
              <a:rPr lang="en-US" sz="2400" spc="-25" dirty="0">
                <a:solidFill>
                  <a:srgbClr val="1D1D1B"/>
                </a:solidFill>
              </a:rPr>
              <a:t> </a:t>
            </a:r>
            <a:r>
              <a:rPr lang="en-US" sz="2400" spc="-10" dirty="0">
                <a:solidFill>
                  <a:srgbClr val="1D1D1B"/>
                </a:solidFill>
              </a:rPr>
              <a:t>cases)</a:t>
            </a:r>
            <a:endParaRPr lang="en-US" sz="2400" dirty="0"/>
          </a:p>
          <a:p>
            <a:pPr marL="355600">
              <a:lnSpc>
                <a:spcPct val="100000"/>
              </a:lnSpc>
              <a:spcBef>
                <a:spcPts val="580"/>
              </a:spcBef>
              <a:buSzPct val="133333"/>
              <a:buFont typeface="Wingdings" panose="05000000000000000000" pitchFamily="2" charset="2"/>
              <a:buChar char="Ø"/>
              <a:tabLst>
                <a:tab pos="335280" algn="l"/>
              </a:tabLst>
            </a:pPr>
            <a:r>
              <a:rPr lang="en-US" sz="2400" dirty="0">
                <a:solidFill>
                  <a:srgbClr val="1D1D1B"/>
                </a:solidFill>
              </a:rPr>
              <a:t>SQL</a:t>
            </a:r>
            <a:r>
              <a:rPr lang="en-US" sz="2400" spc="-10" dirty="0">
                <a:solidFill>
                  <a:srgbClr val="1D1D1B"/>
                </a:solidFill>
              </a:rPr>
              <a:t> </a:t>
            </a:r>
            <a:r>
              <a:rPr lang="en-US" sz="2400" dirty="0">
                <a:solidFill>
                  <a:srgbClr val="1D1D1B"/>
                </a:solidFill>
              </a:rPr>
              <a:t>query</a:t>
            </a:r>
            <a:r>
              <a:rPr lang="en-US" sz="2400" spc="-40" dirty="0">
                <a:solidFill>
                  <a:srgbClr val="1D1D1B"/>
                </a:solidFill>
              </a:rPr>
              <a:t> </a:t>
            </a:r>
            <a:r>
              <a:rPr lang="en-US" sz="2400" dirty="0">
                <a:solidFill>
                  <a:srgbClr val="1D1D1B"/>
                </a:solidFill>
              </a:rPr>
              <a:t>results</a:t>
            </a:r>
            <a:r>
              <a:rPr lang="en-US" sz="2400" spc="-20" dirty="0">
                <a:solidFill>
                  <a:srgbClr val="1D1D1B"/>
                </a:solidFill>
              </a:rPr>
              <a:t> </a:t>
            </a:r>
            <a:r>
              <a:rPr lang="en-US" sz="2400" dirty="0">
                <a:solidFill>
                  <a:srgbClr val="1D1D1B"/>
                </a:solidFill>
              </a:rPr>
              <a:t>with</a:t>
            </a:r>
            <a:r>
              <a:rPr lang="en-US" sz="2400" spc="-60" dirty="0">
                <a:solidFill>
                  <a:srgbClr val="1D1D1B"/>
                </a:solidFill>
              </a:rPr>
              <a:t> </a:t>
            </a:r>
            <a:r>
              <a:rPr lang="en-US" sz="2400" dirty="0">
                <a:solidFill>
                  <a:srgbClr val="1D1D1B"/>
                </a:solidFill>
              </a:rPr>
              <a:t>screenshots</a:t>
            </a:r>
            <a:r>
              <a:rPr lang="en-US" sz="2400" spc="-45" dirty="0">
                <a:solidFill>
                  <a:srgbClr val="1D1D1B"/>
                </a:solidFill>
              </a:rPr>
              <a:t> </a:t>
            </a:r>
            <a:r>
              <a:rPr lang="en-US" sz="2400" dirty="0">
                <a:solidFill>
                  <a:srgbClr val="1D1D1B"/>
                </a:solidFill>
              </a:rPr>
              <a:t>or</a:t>
            </a:r>
            <a:r>
              <a:rPr lang="en-US" sz="2400" spc="-15" dirty="0">
                <a:solidFill>
                  <a:srgbClr val="1D1D1B"/>
                </a:solidFill>
              </a:rPr>
              <a:t> </a:t>
            </a:r>
            <a:r>
              <a:rPr lang="en-US" sz="2400" spc="-10" dirty="0" smtClean="0">
                <a:solidFill>
                  <a:srgbClr val="1D1D1B"/>
                </a:solidFill>
              </a:rPr>
              <a:t>summaries</a:t>
            </a:r>
            <a:endParaRPr lang="en-US" sz="2600" dirty="0" smtClean="0">
              <a:solidFill>
                <a:schemeClr val="tx1"/>
              </a:solidFill>
            </a:endParaRPr>
          </a:p>
          <a:p>
            <a:pPr marL="355600">
              <a:lnSpc>
                <a:spcPct val="100000"/>
              </a:lnSpc>
              <a:spcBef>
                <a:spcPts val="590"/>
              </a:spcBef>
              <a:buSzPct val="133333"/>
              <a:buFont typeface="Wingdings" panose="05000000000000000000" pitchFamily="2" charset="2"/>
              <a:buChar char="Ø"/>
              <a:tabLst>
                <a:tab pos="335280" algn="l"/>
              </a:tabLst>
            </a:pPr>
            <a:r>
              <a:rPr lang="en-US" sz="2400" dirty="0" smtClean="0">
                <a:solidFill>
                  <a:srgbClr val="1D1D1B"/>
                </a:solidFill>
              </a:rPr>
              <a:t>Final</a:t>
            </a:r>
            <a:r>
              <a:rPr lang="en-US" sz="2400" spc="-45" dirty="0" smtClean="0">
                <a:solidFill>
                  <a:srgbClr val="1D1D1B"/>
                </a:solidFill>
              </a:rPr>
              <a:t> </a:t>
            </a:r>
            <a:r>
              <a:rPr lang="en-US" sz="2400" dirty="0">
                <a:solidFill>
                  <a:srgbClr val="1D1D1B"/>
                </a:solidFill>
              </a:rPr>
              <a:t>business</a:t>
            </a:r>
            <a:r>
              <a:rPr lang="en-US" sz="2400" spc="-25" dirty="0">
                <a:solidFill>
                  <a:srgbClr val="1D1D1B"/>
                </a:solidFill>
              </a:rPr>
              <a:t> </a:t>
            </a:r>
            <a:r>
              <a:rPr lang="en-US" sz="2400" dirty="0">
                <a:solidFill>
                  <a:srgbClr val="1D1D1B"/>
                </a:solidFill>
              </a:rPr>
              <a:t>insights</a:t>
            </a:r>
            <a:r>
              <a:rPr lang="en-US" sz="2400" spc="-45" dirty="0">
                <a:solidFill>
                  <a:srgbClr val="1D1D1B"/>
                </a:solidFill>
              </a:rPr>
              <a:t> </a:t>
            </a:r>
            <a:r>
              <a:rPr lang="en-US" sz="2400" dirty="0">
                <a:solidFill>
                  <a:srgbClr val="1D1D1B"/>
                </a:solidFill>
              </a:rPr>
              <a:t>and</a:t>
            </a:r>
            <a:r>
              <a:rPr lang="en-US" sz="2400" spc="-15" dirty="0">
                <a:solidFill>
                  <a:srgbClr val="1D1D1B"/>
                </a:solidFill>
              </a:rPr>
              <a:t> </a:t>
            </a:r>
            <a:r>
              <a:rPr lang="en-US" sz="2400" spc="-10" dirty="0">
                <a:solidFill>
                  <a:srgbClr val="1D1D1B"/>
                </a:solidFill>
              </a:rPr>
              <a:t>recommendations</a:t>
            </a:r>
            <a:endParaRPr lang="en-US" sz="2400" dirty="0"/>
          </a:p>
          <a:p>
            <a:pPr marL="355600">
              <a:lnSpc>
                <a:spcPct val="100000"/>
              </a:lnSpc>
              <a:spcBef>
                <a:spcPts val="585"/>
              </a:spcBef>
              <a:buSzPct val="133333"/>
              <a:buFont typeface="Wingdings" panose="05000000000000000000" pitchFamily="2" charset="2"/>
              <a:buChar char="Ø"/>
              <a:tabLst>
                <a:tab pos="335280" algn="l"/>
              </a:tabLst>
            </a:pPr>
            <a:r>
              <a:rPr lang="en-US" sz="2400" spc="-10" dirty="0">
                <a:solidFill>
                  <a:srgbClr val="1D1D1B"/>
                </a:solidFill>
              </a:rPr>
              <a:t>Conclusion</a:t>
            </a:r>
            <a:endParaRPr lang="en-US" sz="2400" dirty="0"/>
          </a:p>
          <a:p>
            <a:pPr marL="355600">
              <a:lnSpc>
                <a:spcPct val="100000"/>
              </a:lnSpc>
              <a:spcBef>
                <a:spcPts val="575"/>
              </a:spcBef>
              <a:buSzPct val="133333"/>
              <a:buFont typeface="Wingdings" panose="05000000000000000000" pitchFamily="2" charset="2"/>
              <a:buChar char="Ø"/>
              <a:tabLst>
                <a:tab pos="335280" algn="l"/>
              </a:tabLst>
            </a:pPr>
            <a:r>
              <a:rPr lang="en-US" sz="2400" dirty="0">
                <a:solidFill>
                  <a:srgbClr val="1D1D1B"/>
                </a:solidFill>
              </a:rPr>
              <a:t>Q&amp;A</a:t>
            </a:r>
            <a:r>
              <a:rPr lang="en-US" sz="2400" spc="-10" dirty="0">
                <a:solidFill>
                  <a:srgbClr val="1D1D1B"/>
                </a:solidFill>
              </a:rPr>
              <a:t> Slide</a:t>
            </a:r>
            <a:endParaRPr lang="en-US" sz="2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154" y="497398"/>
            <a:ext cx="3727940" cy="54101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154" y="0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Business Problem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8229" y="1510201"/>
            <a:ext cx="1014925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Large amount of sales and customer data is generated daily, but without a structured database it is difficult to track revenue and performance</a:t>
            </a:r>
            <a:r>
              <a:rPr lang="en-IN" sz="24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 smtClean="0"/>
              <a:t>The </a:t>
            </a:r>
            <a:r>
              <a:rPr lang="en-IN" sz="2400" dirty="0"/>
              <a:t>store lacks clear insights about top customers, best-selling products, supplier contribution, and employee efficiency</a:t>
            </a:r>
            <a:r>
              <a:rPr lang="en-IN" sz="24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 smtClean="0"/>
              <a:t>Due </a:t>
            </a:r>
            <a:r>
              <a:rPr lang="en-IN" sz="2400" dirty="0"/>
              <a:t>to absence of data-driven analysis, business decisions are not optimized for profitability and operational efficiency.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1136" y="4624756"/>
            <a:ext cx="2340218" cy="156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760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Problem </a:t>
            </a:r>
            <a:r>
              <a:rPr lang="en-US" b="1" dirty="0" smtClean="0">
                <a:solidFill>
                  <a:srgbClr val="FF0000"/>
                </a:solidFill>
              </a:rPr>
              <a:t>Statement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9454" y="1485899"/>
            <a:ext cx="9255369" cy="47302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Grocery </a:t>
            </a:r>
            <a:r>
              <a:rPr lang="en-US" sz="2400" dirty="0"/>
              <a:t>stores generate large amounts of data related to customers, products, suppliers, employees, and orders.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Without a proper database system, it becomes difficult to track sales, inventory, customer behavior, supplier contribution, and employee performance</a:t>
            </a:r>
            <a:r>
              <a:rPr lang="en-US" sz="2400" dirty="0" smtClean="0"/>
              <a:t>.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This project develops a SQL-based Grocery Store Management System to organize data into a relational database.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SQL queries are used to analyze revenue trends, purchasing patterns, and product performance.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The system supports better decision-making and improves operational efficiency.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5435" y="4246686"/>
            <a:ext cx="2611314" cy="174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793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246" y="0"/>
            <a:ext cx="10515600" cy="1391750"/>
          </a:xfrm>
        </p:spPr>
        <p:txBody>
          <a:bodyPr/>
          <a:lstStyle/>
          <a:p>
            <a:pPr marL="457200" lvl="0" indent="-431800">
              <a:spcBef>
                <a:spcPts val="1000"/>
              </a:spcBef>
            </a:pPr>
            <a:r>
              <a:rPr lang="en-IN" b="1" dirty="0">
                <a:solidFill>
                  <a:srgbClr val="FF0000"/>
                </a:solidFill>
              </a:rPr>
              <a:t>Objective of the Project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8246" y="1376731"/>
            <a:ext cx="10187354" cy="483320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/>
              <a:t>The main goals of this SQL project are: </a:t>
            </a:r>
            <a:endParaRPr lang="en-US" sz="2400" b="1" dirty="0" smtClean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dirty="0"/>
              <a:t>design and implement a SQL-based Grocery Store Management System.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To organize customer, product, supplier, employee, and order data into a relational database.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To enable efficient tracking of sales performance and inventory movement.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To identify top customers and best-selling products.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dirty="0"/>
              <a:t>extract meaningful business insights such as revenue trends, purchasing patterns, and product performance for better decision-making and operational efficiency.</a:t>
            </a:r>
          </a:p>
          <a:p>
            <a:endParaRPr lang="en-US" sz="24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6227" y="283919"/>
            <a:ext cx="1667608" cy="193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6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42900"/>
            <a:ext cx="3332285" cy="835270"/>
          </a:xfrm>
        </p:spPr>
        <p:txBody>
          <a:bodyPr>
            <a:norm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</a:rPr>
              <a:t>Tables</a:t>
            </a:r>
            <a:endParaRPr lang="en-IN" sz="4400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32" y="2176084"/>
            <a:ext cx="4820978" cy="12441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5123" y="1529862"/>
            <a:ext cx="3191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Table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602" y="2176084"/>
            <a:ext cx="4888242" cy="10770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92148" y="1529862"/>
            <a:ext cx="2676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Categories Table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68" y="4757525"/>
            <a:ext cx="4707307" cy="11094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2369" y="4113334"/>
            <a:ext cx="3789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Employees Table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199885" y="4113334"/>
            <a:ext cx="26212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Table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602" y="4757525"/>
            <a:ext cx="4557660" cy="110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179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3056792" cy="79546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Tables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30" y="2082039"/>
            <a:ext cx="4553585" cy="14480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3830" y="1495988"/>
            <a:ext cx="2687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 smtClean="0"/>
              <a:t>Products Table</a:t>
            </a:r>
            <a:endParaRPr lang="en-IN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701" y="3530041"/>
            <a:ext cx="4677428" cy="133368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95614" y="2967381"/>
            <a:ext cx="2118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 Table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830" y="4993560"/>
            <a:ext cx="4934639" cy="14956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3830" y="4466492"/>
            <a:ext cx="3241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Order_details</a:t>
            </a: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573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169" y="413238"/>
            <a:ext cx="3470031" cy="659424"/>
          </a:xfrm>
        </p:spPr>
        <p:txBody>
          <a:bodyPr>
            <a:normAutofit fontScale="90000"/>
          </a:bodyPr>
          <a:lstStyle/>
          <a:p>
            <a:r>
              <a:rPr lang="en-US" sz="4400" b="1" dirty="0" smtClean="0">
                <a:solidFill>
                  <a:srgbClr val="FF0000"/>
                </a:solidFill>
              </a:rPr>
              <a:t>E R diagram</a:t>
            </a:r>
            <a:endParaRPr lang="en-IN" sz="4400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184" y="1143002"/>
            <a:ext cx="7177454" cy="484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9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5478" y="1589137"/>
            <a:ext cx="845233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One-to-Many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supplier to products </a:t>
            </a:r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One-to-Many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categories to products </a:t>
            </a:r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One-to-Many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products to </a:t>
            </a:r>
            <a:r>
              <a:rPr lang="en-US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order_details</a:t>
            </a:r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One-to-Many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orders to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order_details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One-to-Many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customers to orders </a:t>
            </a:r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One-to-Many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employees to orders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6184" y="184638"/>
            <a:ext cx="74558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Relationships</a:t>
            </a:r>
            <a:endParaRPr lang="en-IN" sz="4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19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569" y="190378"/>
            <a:ext cx="4911969" cy="794360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Customer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99509" y="1375974"/>
            <a:ext cx="81964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Who are the top 5 customers by total purchase amount?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74" y="5071310"/>
            <a:ext cx="5306165" cy="77163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9509" y="4434884"/>
            <a:ext cx="68403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How many unique customers have placed orders?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600" y="5213449"/>
            <a:ext cx="2898469" cy="78806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53" y="1940707"/>
            <a:ext cx="4372585" cy="23911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5568" y="2069044"/>
            <a:ext cx="3487374" cy="170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164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5342792" cy="408598"/>
          </a:xfrm>
        </p:spPr>
        <p:txBody>
          <a:bodyPr>
            <a:normAutofit fontScale="90000"/>
          </a:bodyPr>
          <a:lstStyle/>
          <a:p>
            <a:r>
              <a:rPr lang="en-IN" sz="4900" b="1" dirty="0">
                <a:solidFill>
                  <a:srgbClr val="FF0000"/>
                </a:solidFill>
              </a:rPr>
              <a:t>Product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b="1" dirty="0">
                <a:solidFill>
                  <a:srgbClr val="FF0000"/>
                </a:solidFill>
              </a:rPr>
              <a:t>Performance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86231"/>
            <a:ext cx="4077269" cy="13908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5993" y="1358389"/>
            <a:ext cx="4062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 smtClean="0"/>
              <a:t> </a:t>
            </a: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Products count per category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302" y="1576055"/>
            <a:ext cx="3558911" cy="16636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5993" y="3757926"/>
            <a:ext cx="54874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total sales volume (by quantity)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554" y="4439324"/>
            <a:ext cx="4324954" cy="15432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325" y="4385171"/>
            <a:ext cx="3254867" cy="165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05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808" y="127732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Sales &amp; Order Trends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808" y="1453295"/>
            <a:ext cx="4371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Weekday vs Weekend analysis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08" y="2064383"/>
            <a:ext cx="5372850" cy="14289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459" y="2002837"/>
            <a:ext cx="3016645" cy="8542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0808" y="3873587"/>
            <a:ext cx="34483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Dates with most orders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08" y="4788417"/>
            <a:ext cx="3667637" cy="13432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2459" y="4104419"/>
            <a:ext cx="2448267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57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223" y="0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Supplier Contribution </a:t>
            </a:r>
          </a:p>
        </p:txBody>
      </p:sp>
      <p:sp>
        <p:nvSpPr>
          <p:cNvPr id="3" name="Rectangle 2"/>
          <p:cNvSpPr/>
          <p:nvPr/>
        </p:nvSpPr>
        <p:spPr>
          <a:xfrm>
            <a:off x="583223" y="1325563"/>
            <a:ext cx="65053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Which supplier provides the most products?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343" y="2138979"/>
            <a:ext cx="3801005" cy="1590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3675" y="1901284"/>
            <a:ext cx="3185148" cy="17252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1403" y="4046381"/>
            <a:ext cx="83631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What is the average price of products from each supplier?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43" y="4650545"/>
            <a:ext cx="4210638" cy="138131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222" y="4650545"/>
            <a:ext cx="2607811" cy="146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58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207" y="66187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Employee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72207" y="1240953"/>
            <a:ext cx="72362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Which employees have handled the most orders?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07" y="1977597"/>
            <a:ext cx="3791479" cy="1590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468" y="1444460"/>
            <a:ext cx="2994912" cy="1953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2207" y="3775274"/>
            <a:ext cx="77732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What is </a:t>
            </a:r>
            <a:r>
              <a:rPr lang="en-US" sz="2400"/>
              <a:t>the </a:t>
            </a:r>
            <a:r>
              <a:rPr lang="en-US" sz="2400" dirty="0"/>
              <a:t>T</a:t>
            </a:r>
            <a:r>
              <a:rPr lang="en-US" sz="2400" smtClean="0"/>
              <a:t>otal </a:t>
            </a:r>
            <a:r>
              <a:rPr lang="en-US" sz="2400" dirty="0"/>
              <a:t>order value handled per employee?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5094" y="4145549"/>
            <a:ext cx="2555463" cy="203828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757" y="4511589"/>
            <a:ext cx="4220164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260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415" y="0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Order Details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3415" y="1437520"/>
            <a:ext cx="49039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Quantity vs Total Price relationship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69" y="2189923"/>
            <a:ext cx="3877216" cy="13527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031" y="1776685"/>
            <a:ext cx="2848139" cy="165562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82829" y="3899367"/>
            <a:ext cx="42210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quantity per product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469" y="4714082"/>
            <a:ext cx="4324954" cy="13908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4031" y="4199660"/>
            <a:ext cx="2762636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207" y="0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2207" y="1325563"/>
            <a:ext cx="10407162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small group of customers contributes significantly to total revenue (high-value customers identified).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products and categories generate higher sales and revenue compared to others.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trends show variation across different dates and months, indicating peak sales periods.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suppliers contribute more to overall revenue due to high-performing products.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performance varies based on number of orders handled and total sales processed.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461" y="4598202"/>
            <a:ext cx="2781077" cy="167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0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492" y="0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4365" y="1448654"/>
            <a:ext cx="1059326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retaining high-value customers through loyalty programs and targeted promotions</a:t>
            </a:r>
            <a:r>
              <a:rPr lang="en-US" altLang="en-US" sz="24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stock availability for best-selling products to avoid </a:t>
            </a:r>
            <a:r>
              <a:rPr lang="en-US" altLang="en-US" sz="2400" dirty="0" err="1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stockouts</a:t>
            </a:r>
            <a:r>
              <a:rPr lang="en-US" altLang="en-US" sz="24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marketing strategies during low-sales periods to balance </a:t>
            </a:r>
            <a:r>
              <a:rPr lang="en-US" altLang="en-US" sz="24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trends.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 partnerships with high-performing </a:t>
            </a:r>
            <a:r>
              <a:rPr lang="en-US" altLang="en-US" sz="24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suppliers.</a:t>
            </a:r>
            <a:endParaRPr lang="en-US" alt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or incentives to improve employee performance and productivity.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Regularly monitor sales and inventory data to support proactive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63984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715" y="0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7714" y="1325562"/>
            <a:ext cx="1051560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SQL-based Grocery Store Management System successfully organizes and manages store data using a structured relational database</a:t>
            </a:r>
            <a:r>
              <a:rPr lang="en-US" altLang="en-US" sz="24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alt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enables efficient tracking of customers, products, suppliers, employees, and orders</a:t>
            </a:r>
            <a:r>
              <a:rPr lang="en-US" altLang="en-US" sz="24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alt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Through SQL queries and data analysis, meaningful business insights were generated regarding sales performance, customer behavior, and product demand</a:t>
            </a:r>
            <a:r>
              <a:rPr lang="en-US" altLang="en-US" sz="24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endParaRPr lang="en-US" alt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demonstrates how database systems can improve operational efficiency and support data-driven decision-making in retail businesses.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456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Top 10 Q And A PowerPoint Presentation Templates in 20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783" y="791310"/>
            <a:ext cx="7024856" cy="510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050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57"/>
            <a:ext cx="12192000" cy="68504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337" y="6271047"/>
            <a:ext cx="3334215" cy="5144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</TotalTime>
  <Words>717</Words>
  <Application>Microsoft Office PowerPoint</Application>
  <PresentationFormat>Widescreen</PresentationFormat>
  <Paragraphs>105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Libre Baskerville</vt:lpstr>
      <vt:lpstr>Lato Black</vt:lpstr>
      <vt:lpstr>Arial</vt:lpstr>
      <vt:lpstr>Arial MT</vt:lpstr>
      <vt:lpstr>Calibri</vt:lpstr>
      <vt:lpstr>Wingdings</vt:lpstr>
      <vt:lpstr>Office Theme</vt:lpstr>
      <vt:lpstr>PowerPoint Presentation</vt:lpstr>
      <vt:lpstr>PowerPoint Presentation</vt:lpstr>
      <vt:lpstr>Agenda</vt:lpstr>
      <vt:lpstr>Business Problem</vt:lpstr>
      <vt:lpstr>Problem Statement</vt:lpstr>
      <vt:lpstr>Objective of the Project</vt:lpstr>
      <vt:lpstr>Tables</vt:lpstr>
      <vt:lpstr>Tables</vt:lpstr>
      <vt:lpstr>E R diagram</vt:lpstr>
      <vt:lpstr>PowerPoint Presentation</vt:lpstr>
      <vt:lpstr>Customer Insights</vt:lpstr>
      <vt:lpstr>Product Performance</vt:lpstr>
      <vt:lpstr>Sales &amp; Order Trends</vt:lpstr>
      <vt:lpstr>Supplier Contribution </vt:lpstr>
      <vt:lpstr>Employee Performance</vt:lpstr>
      <vt:lpstr>Order Details Deep Dive</vt:lpstr>
      <vt:lpstr>Insights</vt:lpstr>
      <vt:lpstr>Recommendations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hp</cp:lastModifiedBy>
  <cp:revision>39</cp:revision>
  <dcterms:created xsi:type="dcterms:W3CDTF">2021-02-16T05:19:01Z</dcterms:created>
  <dcterms:modified xsi:type="dcterms:W3CDTF">2026-02-14T11:07:43Z</dcterms:modified>
</cp:coreProperties>
</file>